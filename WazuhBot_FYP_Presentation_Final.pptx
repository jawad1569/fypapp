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118"/>
  </p:normalViewPr>
  <p:slideViewPr>
    <p:cSldViewPr snapToGrid="0" snapToObjects="1">
      <p:cViewPr varScale="1">
        <p:scale>
          <a:sx n="102" d="100"/>
          <a:sy n="102" d="100"/>
        </p:scale>
        <p:origin x="1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57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PROBLEM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SOLUTION OVERVIEW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ARCHITECTURE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TECHNOLOGY STACK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WORKFLOW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REQUIREMENTS MET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DEMO SCENARIO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88036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43484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365760"/>
            <a:ext cx="2743200" cy="4389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685800"/>
            <a:ext cx="1737360" cy="1737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2560320"/>
            <a:ext cx="2560320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./wazuhbot --start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Connecting to SIEM...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Model: Qwen2.5:3B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Status: ACTIVE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297181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4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0" y="135438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Wazuhbot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AN INTEGRATED SYSTEM FOR</a:t>
            </a:r>
          </a:p>
          <a:p>
            <a:pPr marL="32400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DETECTION AND RESPONSE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74320" y="2423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 + Qwen2.5:3B LLM + RAG + MCP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432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Jawad Maqsood  27080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Tooba Iqbal Aswani  26958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Minahil Siddiq  27005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Faisal Iradat  |  IBA SMCS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912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17624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Existing SIEMs Fall Short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Fatigue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39903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SIEMs flood analysts with thousands of false positives daily, causing genuine threats to be missed.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515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Contextual Reasoning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139903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SIEMs detect events in isolation — no understanding of patterns, history, or attacker behaviour.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17920" y="96012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Attack Evasion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139903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attacks and stealthy DDoS/brute-force patterns bypass signature-based detection entirely.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260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Incident Response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triage and investigate each alert — a bottleneck that costs critical response time.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283464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92608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033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Actionable Guidance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3756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show WHAT happened but not WHY it matters or WHAT to do — leaving analysts guessing.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17920" y="283464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17920" y="283464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Tooling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936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tools and SIEM dashboards are disconnected — no unified workflow for detection-to-response.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16916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WazuhBot — AI-Augmented SOC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solidFill>
            <a:srgbClr val="071428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9601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layer on top of Wazuh SIEM that combines a fine-tuned Random Forest classifier (NF-UQ-NIDS + ToN-IoT) with an LLM (Qwen2.5:3B) using RAG and MCP tooling to automatically detect threats, reason about them, and let analysts investigate and respond through a conversational web interface.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20624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48840"/>
            <a:ext cx="4206240" cy="54864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1343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ML-Powered Detection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87752"/>
            <a:ext cx="3474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detects 21 attack classes (DDoS, DoS, brute-force, scanning, XSS, etc.); LLM contextualizes &amp; explains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3429000"/>
            <a:ext cx="420624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429000"/>
            <a:ext cx="4206240" cy="54864"/>
          </a:xfrm>
          <a:prstGeom prst="rect">
            <a:avLst/>
          </a:prstGeom>
          <a:solidFill>
            <a:srgbClr val="39FF1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9359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3538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 Base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14400" y="3867912"/>
            <a:ext cx="3474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stores Wazuh documentation; Sentence Transformers retrieve relevant context for every query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2148840"/>
            <a:ext cx="420624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09160" y="2148840"/>
            <a:ext cx="4206240" cy="54864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31343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49240" y="2587752"/>
            <a:ext cx="3474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chat with the bot — ask about IPs, request blocks, get natural language explanations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09160" y="3429000"/>
            <a:ext cx="420624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3429000"/>
            <a:ext cx="420624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59359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3538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Calling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349240" y="3867912"/>
            <a:ext cx="3474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live Wazuh tools (OpenSearch :9200 &amp; Manager :55000) to query real-time alert data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901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08576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45920" cy="9144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69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 SIEM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435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 &amp; Active Response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48840" y="960120"/>
            <a:ext cx="1920240" cy="914400"/>
          </a:xfrm>
          <a:prstGeom prst="rect">
            <a:avLst/>
          </a:prstGeom>
          <a:solidFill>
            <a:srgbClr val="2D6A9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69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BACKEND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435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Express + MySQL 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201168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069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CHATBOT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435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Qwen2.5:3B + ChromaDB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29400" y="960120"/>
            <a:ext cx="2286000" cy="914400"/>
          </a:xfrm>
          <a:prstGeom prst="rect">
            <a:avLst/>
          </a:prstGeom>
          <a:solidFill>
            <a:srgbClr val="7A3A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069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1435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• Wazuh Tool Calls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0" y="1417320"/>
            <a:ext cx="32004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069080" y="1417320"/>
            <a:ext cx="27432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355080" y="1417320"/>
            <a:ext cx="27432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82880" y="1965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↕  REST API  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48840" y="1965960"/>
            <a:ext cx="411480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029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 —  Vite + Vanilla JS + Custom CSS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2304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 •  Investigation View  •  Chat Interface  •  Action Buttons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29400" y="1965960"/>
            <a:ext cx="228600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Database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• Conversations • Messages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2834640"/>
            <a:ext cx="877824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 ENDPOINTS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182112"/>
            <a:ext cx="4160520" cy="59436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27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:9200  OpenSearch/Indexer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alert logs &amp; historical events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182112"/>
            <a:ext cx="4160520" cy="59436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27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:55000  Manager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rules, vulnerability scans, active response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Neo4j Knowledge Graph — replaced with RAG (ChromaDB) for contextual reasoning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27432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42390" y="13456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14884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2148840" cy="3657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60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371600"/>
            <a:ext cx="1965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— dev server &amp; bundler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— no framework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— no UI lib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214884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914400"/>
            <a:ext cx="2148840" cy="3657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960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24328" y="1371600"/>
            <a:ext cx="1965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— MySQL driver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auth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— email alerts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914400"/>
            <a:ext cx="214884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914400"/>
            <a:ext cx="2148840" cy="36576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960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CHATBOT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38928" y="1371600"/>
            <a:ext cx="1965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server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runs LLM locally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vector store (RAG)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Random Forest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914400"/>
            <a:ext cx="214884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914400"/>
            <a:ext cx="2148840" cy="365760"/>
          </a:xfrm>
          <a:prstGeom prst="rect">
            <a:avLst/>
          </a:prstGeom>
          <a:solidFill>
            <a:srgbClr val="7A3A1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960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24928" y="1371600"/>
            <a:ext cx="1965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framework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 HTTP requests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:9200 (OpenSearch)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:55000 (Manager)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4343400"/>
            <a:ext cx="8778240" cy="566928"/>
          </a:xfrm>
          <a:prstGeom prst="rect">
            <a:avLst/>
          </a:prstGeom>
          <a:solidFill>
            <a:srgbClr val="071428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343400"/>
            <a:ext cx="64008" cy="566928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Detector: Random Forest (scikit-learn)  •  LLM: Qwen2.5:3B — chosen for superior tool-calling / function-calling capabilities essential for MCP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516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83464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283464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097280"/>
            <a:ext cx="411480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581912"/>
            <a:ext cx="261518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 collects security logs from endpoints &amp; network devices. REST API forwards events to Node.js backend.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960120"/>
            <a:ext cx="283464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960120"/>
            <a:ext cx="283464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82696" y="1097280"/>
            <a:ext cx="411480" cy="4114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7328" y="1124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82696" y="1581912"/>
            <a:ext cx="261518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(trained on NF-UQ-NIDS + ToN-IoT) classifies log records into 21 attack categories. LLM (Qwen2.5:3B) generates the explanation.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63056" y="960120"/>
            <a:ext cx="283464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960120"/>
            <a:ext cx="283464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2784" y="1097280"/>
            <a:ext cx="411480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57416" y="1124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Context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1581912"/>
            <a:ext cx="261518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chatbot queries ChromaDB (Sentence Transformers) to retrieve relevant Wazuh knowledge docs for accurate responses.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898648"/>
            <a:ext cx="283464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898648"/>
            <a:ext cx="2834640" cy="54864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" y="3035808"/>
            <a:ext cx="411480" cy="41148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Generated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" y="3520440"/>
            <a:ext cx="261518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alert sent to Wazuh dashboard: type, severity, confidence score. Link to investigation page included.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72968" y="2898648"/>
            <a:ext cx="283464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2968" y="2898648"/>
            <a:ext cx="2834640" cy="54864"/>
          </a:xfrm>
          <a:prstGeom prst="rect">
            <a:avLst/>
          </a:prstGeom>
          <a:solidFill>
            <a:srgbClr val="CC88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82696" y="3035808"/>
            <a:ext cx="411480" cy="411480"/>
          </a:xfrm>
          <a:prstGeom prst="rect">
            <a:avLst/>
          </a:prstGeom>
          <a:solidFill>
            <a:srgbClr val="CC88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82696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67328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Investigates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82696" y="3520440"/>
            <a:ext cx="261518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opens web app, sees alert details, chats with LLM: 'What is the history of this IP?' or 'Block the IP'.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2898648"/>
            <a:ext cx="2834640" cy="1783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2898648"/>
            <a:ext cx="283464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7" name="Shape 35"/>
          <p:cNvSpPr/>
          <p:nvPr/>
        </p:nvSpPr>
        <p:spPr>
          <a:xfrm>
            <a:off x="6272784" y="3035808"/>
            <a:ext cx="411480" cy="41148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57416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Response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3520440"/>
            <a:ext cx="261518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approval, MCP Server calls Wazuh Manager API (:55000) to execute the block. Result logged to MySQL.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28898" y="1549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Application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9377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54864" cy="86868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3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624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 err="1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password hashing. Session managed via tokens.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965960"/>
            <a:ext cx="49377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965960"/>
            <a:ext cx="54864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391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682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AI-generated alerts. Searchable &amp; filterable by severity, type, date.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971800"/>
            <a:ext cx="49377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971800"/>
            <a:ext cx="54864" cy="8686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0449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Investigation 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741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alert details panel. Interactive chat with Qwen LLM chatbot.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3977640"/>
            <a:ext cx="49377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977640"/>
            <a:ext cx="54864" cy="868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050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Action Execution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3799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buttons: Block IP, Dismiss. Human-in-the-loop approval required.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960120"/>
            <a:ext cx="3611880" cy="3931920"/>
          </a:xfrm>
          <a:prstGeom prst="rect">
            <a:avLst/>
          </a:prstGeom>
          <a:solidFill>
            <a:srgbClr val="0714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024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 ALERT SCHEMA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ai_anomaly_type: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14173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"SSH Brute-force"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ai_severity: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20574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ai_confidence: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26974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"0.95"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ai_recommendation: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33375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 IP"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4068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ai_explanation: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39776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"15 failed SSH logins\nin 2 min from new IP"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19773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 Requirements — Status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88720" y="1033272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normalize security logs from Wazuh via REST API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2880" y="1755648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568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88720" y="1828800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NF-UQ-NIDS + ToN-IoT datasets into CSV for model training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2880" y="2551176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523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2624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FR3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88720" y="2624328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detects 21 attack categories (DDoS, DoS, brute-force, XSS, scanning, etc.)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82880" y="3346704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478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3419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FR4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88720" y="3419856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reasoning &amp; natural-language explanation by Qwen2.5:3B LLM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82880" y="4142232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434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FR5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88720" y="4215384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context via RAG/ChromaDB (replaces Neo4j graph)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709160" y="960120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6128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36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FR6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5715000" y="1033272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alerts: anomaly type, severity, confidence, evidence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709160" y="1755648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56816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66360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FR7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5715000" y="1828800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recommendations: Block IP, Monitor Host, Dismiss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709160" y="2551176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52344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66360" y="2624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FR8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5715000" y="2624328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analyst approves all actions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4709160" y="3346704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547872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166360" y="3419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FR9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5715000" y="3419856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approved actions via Wazuh API (active response)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4709160" y="4142232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34340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166360" y="4215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FR10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5715000" y="4215384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explanations for all detections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solidFill>
            <a:srgbClr val="0714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Note:  SLM-1 + SLM-2 + Neo4j replaced by Random Forest classifier + Qwen2.5:3B LLM with RAG (ChromaDB) — all 10 functional requirements fully satisfied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6888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Brute-Force Attack — Use Case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5029200" cy="3931920"/>
          </a:xfrm>
          <a:prstGeom prst="rect">
            <a:avLst/>
          </a:prstGeom>
          <a:solidFill>
            <a:srgbClr val="030B18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502920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509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 wazuhbot terminal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WAZUH receives SSH auth logs from agent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5407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15 failed logins in 2 min — IP: 192.168.1.5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LLM: ANOMALY DETECTED [SSH Brute-force]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9705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Confidence: 0.95 | Severity: HIGH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1854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Alert ALERT-007 → Wazuh dashboard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4003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Full details → Web App /alert/ALERT-007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61518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8300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ANALYST: What is the history of 192.168.1.5?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044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[RAG + MCP query]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2598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 prior malicious history found.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4747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6896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ANALYST: Block the IP.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904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Confirmation dialog shown...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41193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ANALYST confirms.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43342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MCP → Wazuh :55000 → IP BLOCKED 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960120"/>
            <a:ext cx="352044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960120"/>
            <a:ext cx="457200" cy="8229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960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1033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 Wazuh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36245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 with AI analysis &amp; link to investigation app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1920240"/>
            <a:ext cx="352044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1920240"/>
            <a:ext cx="457200" cy="82296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19202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89320" y="1993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Opens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23225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view loads — full alert details, chat window ready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2880360"/>
            <a:ext cx="352044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2880360"/>
            <a:ext cx="457200" cy="8229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989320" y="29535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Conversation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28269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queries context. RAG fetches relevant Wazuh docs via ChromaDB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3840480"/>
            <a:ext cx="352044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3840480"/>
            <a:ext cx="457200" cy="8229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840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989320" y="39136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Response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89320" y="424281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block command executes via MCP → Wazuh Manager API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5176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DELIVERED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713232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WazuhBot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274320" y="1572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Security Operations Framework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4320" y="21488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detection-to-response pipeline on Wazuh SIEM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4320" y="255117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classifier — 89.93% accuracy across 21 attack classes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29535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Qwen2.5:3B LLM + RAG (ChromaDB) + MCP for reasoning &amp; live Wazuh API actions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335584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10 Functional Requirements delivered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4320" y="375818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Human-in-the-loop architecture — analyst always approves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Jawad Maqsood 27080   |   Tooba Iqbal Aswani 26958   |   Minahil Siddiq 27005   |   Supervisor: Dr. Faisal Iradat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19773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— Random Forest Classifier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88720" y="1033272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89.93% accuracy on 82,744-sample held-out test set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2880" y="1755648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568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88720" y="1828800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0.91  •  Macro F1: 0.83  •  21 attack classes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2880" y="2551176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523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2624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88720" y="2624328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 —  P 1.00  •  R 1.00  •  F1 1.00  (n = 423)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82880" y="3346704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478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3419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DDoS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88720" y="3419856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 —  P 0.99  •  R 0.98  •  F1 0.98  (n = 15,973)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82880" y="4142232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434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B-F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88720" y="4215384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 —  P 0.97  •  R 0.98  •  F1 0.97  (n = 383)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709160" y="960120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6128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36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5715000" y="1033272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 —  P 0.97  •  R 0.95  •  F1 0.96  (n = 15,969)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709160" y="1755648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56816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66360" y="1828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5715000" y="1828800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 —  P 0.97  •  R 0.94  •  F1 0.95  (n = 10,639)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709160" y="2551176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52344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66360" y="2624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5715000" y="2624328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 —  P 0.95  •  R 0.94  •  F1 0.95  (n = 7,744)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4709160" y="3346704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547872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166360" y="3419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5715000" y="3419856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  —  P 0.89  •  R 0.93  •  F1 0.91  (n = 3,622)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4709160" y="4142232"/>
            <a:ext cx="429768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34340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166360" y="4215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5715000" y="4215384"/>
            <a:ext cx="32004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 —  P 0.85  •  R 0.92  •  F1 0.88  (n = 8,290)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solidFill>
            <a:srgbClr val="0714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on 19 of 21 classes (F1 ≥ 0.78). Trained on combined NF-UQ-NIDS + ToN-IoT — see next slide for two underperforming classes &amp; future work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912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17624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Infilteration Class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39903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0.06 (n=359). Classifier over-flags benign flows as Infilteration. Future work: targeted feature engineering &amp; SMOTE oversampling for minority subclasses.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515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MITM Class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139903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0.16 (n=151). Small minority class — high false-positive rate. Future work: collect more MITM samples &amp; ensemble with an unsupervised anomaly detector.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17920" y="96012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139903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DoS / Normal dominate (~16k each) vs. Worms (22), Analysis (67). Future work: class-weighted training, focal loss, or rebalanced sampling.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260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Drift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evolve; a static training set ages over time. Future work: continual-learning pipeline that periodically retrains on fresh Wazuh-collected data.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283464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92608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033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Hallucination Risk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3756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can occasionally produce inaccurate explanations. Future work: stricter RAG grounding, citation-required prompting, and response validation.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17920" y="2834640"/>
            <a:ext cx="274320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17920" y="2834640"/>
            <a:ext cx="2743200" cy="54864"/>
          </a:xfrm>
          <a:prstGeom prst="rect">
            <a:avLst/>
          </a:prstGeom>
          <a:solidFill>
            <a:srgbClr val="FF3B3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2907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Single-Model Baseline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936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Random Forest evaluated — no deep-learning baseline compared. Future work: benchmark against XGBoost, LightGBM, and TabTransformer for the final model choice.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1144</Words>
  <Application>Microsoft Macintosh PowerPoint</Application>
  <PresentationFormat>On-screen Show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Security Operations Framework</dc:title>
  <dc:subject>PptxGenJS Presentation</dc:subject>
  <dc:creator>PptxGenJS</dc:creator>
  <cp:lastModifiedBy>Microsoft Office User</cp:lastModifiedBy>
  <cp:revision>6</cp:revision>
  <dcterms:created xsi:type="dcterms:W3CDTF">2026-04-24T18:21:35Z</dcterms:created>
  <dcterms:modified xsi:type="dcterms:W3CDTF">2026-04-25T21:26:17Z</dcterms:modified>
</cp:coreProperties>
</file>